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5" r:id="rId2"/>
    <p:sldId id="310" r:id="rId3"/>
    <p:sldId id="311" r:id="rId4"/>
    <p:sldId id="312" r:id="rId5"/>
    <p:sldId id="313" r:id="rId6"/>
    <p:sldId id="314" r:id="rId7"/>
    <p:sldId id="315" r:id="rId8"/>
    <p:sldId id="316" r:id="rId9"/>
  </p:sldIdLst>
  <p:sldSz cx="12188825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9" autoAdjust="0"/>
  </p:normalViewPr>
  <p:slideViewPr>
    <p:cSldViewPr showGuides="1">
      <p:cViewPr varScale="1">
        <p:scale>
          <a:sx n="82" d="100"/>
          <a:sy n="82" d="100"/>
        </p:scale>
        <p:origin x="720" y="7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9/17/2026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9/17/2026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9/17/2026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9/17/2026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9/17/2026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9/17/2026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9/17/2026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9/17/2026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9/17/2026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9/17/2026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9/17/2026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9/17/2026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93812" y="379309"/>
            <a:ext cx="8229600" cy="2895600"/>
          </a:xfrm>
        </p:spPr>
        <p:txBody>
          <a:bodyPr/>
          <a:lstStyle/>
          <a:p>
            <a:r>
              <a:rPr lang="en-IN" dirty="0"/>
              <a:t>Credit Risk &amp; Data Quality Analytics Platform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81845" y="3415004"/>
            <a:ext cx="8341567" cy="1724744"/>
          </a:xfrm>
        </p:spPr>
        <p:txBody>
          <a:bodyPr>
            <a:normAutofit/>
          </a:bodyPr>
          <a:lstStyle/>
          <a:p>
            <a:r>
              <a:rPr lang="en-IN" dirty="0"/>
              <a:t>An End-to-End Data Analytics, Risk &amp; Data Quality Solution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Python | SQL | Machine Learning | Power BI | Excel</a:t>
            </a:r>
            <a:endParaRPr lang="it-IT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A712A2-DA73-0134-9CDF-7621ED09CBF6}"/>
              </a:ext>
            </a:extLst>
          </p:cNvPr>
          <p:cNvSpPr/>
          <p:nvPr/>
        </p:nvSpPr>
        <p:spPr>
          <a:xfrm>
            <a:off x="333772" y="5949280"/>
            <a:ext cx="419403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Leisha Nampally</a:t>
            </a:r>
          </a:p>
          <a:p>
            <a:pPr algn="ctr"/>
            <a:r>
              <a:rPr lang="en-IN" sz="2000" dirty="0"/>
              <a:t>B.Tech Computer Science Engineering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499518" y="210344"/>
            <a:ext cx="9144001" cy="627856"/>
          </a:xfrm>
        </p:spPr>
        <p:txBody>
          <a:bodyPr/>
          <a:lstStyle/>
          <a:p>
            <a:r>
              <a:rPr lang="en-IN" b="1" u="sng" dirty="0"/>
              <a:t>Business Problem, Objectives &amp; Dataset</a:t>
            </a:r>
            <a:endParaRPr lang="en-US" b="1" u="sng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851447" y="1017476"/>
            <a:ext cx="5220071" cy="3816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900" b="1" dirty="0"/>
              <a:t>Business Problem</a:t>
            </a:r>
            <a:endParaRPr lang="en-IN" sz="1900" dirty="0"/>
          </a:p>
          <a:p>
            <a:pPr marL="0" indent="0">
              <a:buNone/>
            </a:pPr>
            <a:r>
              <a:rPr lang="en-IN" sz="1900" dirty="0"/>
              <a:t>Financial institutions need accurate and reliable credit data to assess risk and support data-driven decisions.</a:t>
            </a:r>
          </a:p>
          <a:p>
            <a:pPr marL="0" indent="0">
              <a:buNone/>
            </a:pPr>
            <a:r>
              <a:rPr lang="en-IN" sz="1900" dirty="0"/>
              <a:t>Credit data may contain:</a:t>
            </a:r>
          </a:p>
          <a:p>
            <a:pPr lvl="0"/>
            <a:r>
              <a:rPr lang="en-IN" sz="1900" dirty="0"/>
              <a:t>Missing or inconsistent values </a:t>
            </a:r>
          </a:p>
          <a:p>
            <a:pPr lvl="0"/>
            <a:r>
              <a:rPr lang="en-IN" sz="1900" dirty="0"/>
              <a:t>Data-quality issues </a:t>
            </a:r>
          </a:p>
          <a:p>
            <a:pPr lvl="0"/>
            <a:r>
              <a:rPr lang="en-IN" sz="1900" dirty="0"/>
              <a:t>Different default patterns across loan segments </a:t>
            </a:r>
          </a:p>
          <a:p>
            <a:pPr lvl="0"/>
            <a:r>
              <a:rPr lang="en-IN" sz="1900" dirty="0"/>
              <a:t>Potential anomalies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EA0BD1-0C0F-9313-3BDA-D0346E7336FD}"/>
              </a:ext>
            </a:extLst>
          </p:cNvPr>
          <p:cNvSpPr/>
          <p:nvPr/>
        </p:nvSpPr>
        <p:spPr>
          <a:xfrm>
            <a:off x="6079938" y="1017476"/>
            <a:ext cx="5400600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b="1" dirty="0"/>
              <a:t>Project Objectives</a:t>
            </a:r>
          </a:p>
          <a:p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Clean and validate credit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Analyze</a:t>
            </a:r>
            <a:r>
              <a:rPr lang="en-IN" dirty="0"/>
              <a:t> loan-default patterns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Perform SQL-based risk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Build ML models for default prediction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 interactive Power BI dashboards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Establish a reproducible analytics workflow</a:t>
            </a:r>
          </a:p>
          <a:p>
            <a:pPr algn="ctr"/>
            <a:endParaRPr lang="en-US" sz="2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333E3B-25F9-3B9E-6F6F-285EE6A84155}"/>
              </a:ext>
            </a:extLst>
          </p:cNvPr>
          <p:cNvSpPr/>
          <p:nvPr/>
        </p:nvSpPr>
        <p:spPr>
          <a:xfrm>
            <a:off x="400338" y="4833900"/>
            <a:ext cx="11359200" cy="203132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IN" b="1" dirty="0"/>
              <a:t>Dataset</a:t>
            </a:r>
            <a:endParaRPr lang="en-IN" dirty="0"/>
          </a:p>
          <a:p>
            <a:r>
              <a:rPr lang="en-IN" b="1" dirty="0"/>
              <a:t>32,581 loan records | 12 variables | Target: </a:t>
            </a:r>
            <a:r>
              <a:rPr lang="en-IN" b="1" dirty="0" err="1"/>
              <a:t>loan_status</a:t>
            </a:r>
            <a:endParaRPr lang="en-IN" dirty="0"/>
          </a:p>
          <a:p>
            <a:r>
              <a:rPr lang="en-IN" dirty="0"/>
              <a:t>Key attributes:</a:t>
            </a:r>
            <a:br>
              <a:rPr lang="en-IN" dirty="0"/>
            </a:br>
            <a:r>
              <a:rPr lang="en-IN" b="1" dirty="0"/>
              <a:t>Income • Age • Loan Amount • Interest Rate • Loan Grade • Loan Intent • Loan Burden • Previous Default History</a:t>
            </a:r>
          </a:p>
          <a:p>
            <a:endParaRPr lang="en-IN" b="1" dirty="0"/>
          </a:p>
          <a:p>
            <a:r>
              <a:rPr lang="en-IN" b="1" dirty="0">
                <a:solidFill>
                  <a:schemeClr val="tx2"/>
                </a:solidFill>
              </a:rPr>
              <a:t>Goal: Transform raw credit data into trusted, actionable risk insights.</a:t>
            </a:r>
          </a:p>
          <a:p>
            <a:pPr algn="ctr"/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0A85D-1502-7327-5B73-C4E796645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1C11722-83DE-05B7-BAC2-81BE4047A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876" y="163318"/>
            <a:ext cx="9144001" cy="627856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Data Preparation, Quality &amp; Analytics Workflow</a:t>
            </a:r>
            <a:endParaRPr lang="en-US" b="1" u="sng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1789644-5002-AB9D-5704-C9AD20DB8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00" y="980728"/>
            <a:ext cx="5461872" cy="35989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900" b="1" dirty="0"/>
              <a:t>Data Preparation</a:t>
            </a:r>
            <a:endParaRPr lang="en-IN" sz="1900" dirty="0"/>
          </a:p>
          <a:p>
            <a:pPr lvl="0"/>
            <a:r>
              <a:rPr lang="en-IN" sz="1900" dirty="0"/>
              <a:t>Inspected missing values and duplicates </a:t>
            </a:r>
          </a:p>
          <a:p>
            <a:pPr lvl="0"/>
            <a:r>
              <a:rPr lang="en-IN" sz="1900" dirty="0"/>
              <a:t>Standardized data types </a:t>
            </a:r>
          </a:p>
          <a:p>
            <a:pPr lvl="0"/>
            <a:r>
              <a:rPr lang="en-IN" sz="1900" dirty="0"/>
              <a:t>Validated numerical ranges </a:t>
            </a:r>
          </a:p>
          <a:p>
            <a:pPr lvl="0"/>
            <a:r>
              <a:rPr lang="en-IN" sz="1900" dirty="0"/>
              <a:t>Checked categorical consistency </a:t>
            </a:r>
          </a:p>
          <a:p>
            <a:pPr lvl="0"/>
            <a:r>
              <a:rPr lang="en-IN" sz="1900" dirty="0"/>
              <a:t>Validated target variable </a:t>
            </a:r>
          </a:p>
          <a:p>
            <a:pPr lvl="0"/>
            <a:r>
              <a:rPr lang="en-IN" sz="1900" dirty="0"/>
              <a:t>Identified potential outliers </a:t>
            </a:r>
          </a:p>
          <a:p>
            <a:pPr lvl="0"/>
            <a:r>
              <a:rPr lang="en-IN" sz="1900" dirty="0"/>
              <a:t>Created an analysis-ready dataset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197533-A2CB-E0F9-4509-2C86F25C8C1B}"/>
              </a:ext>
            </a:extLst>
          </p:cNvPr>
          <p:cNvSpPr/>
          <p:nvPr/>
        </p:nvSpPr>
        <p:spPr>
          <a:xfrm>
            <a:off x="6317672" y="1015920"/>
            <a:ext cx="5321355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b="1" dirty="0"/>
              <a:t>Data Quality Framework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Completeness — 25%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Uniqueness — 20%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Validity — 25%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Consistency — 20%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Data Type Quality — 10% </a:t>
            </a:r>
          </a:p>
          <a:p>
            <a:r>
              <a:rPr lang="en-IN" dirty="0"/>
              <a:t>Overall Data Quality Score</a:t>
            </a:r>
          </a:p>
          <a:p>
            <a:r>
              <a:rPr lang="en-IN" b="1" dirty="0"/>
              <a:t>100%</a:t>
            </a:r>
          </a:p>
          <a:p>
            <a:pPr algn="ctr"/>
            <a:endParaRPr lang="en-US" sz="2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F1EAD7-62B6-D229-DAFF-8C010E66E4EE}"/>
              </a:ext>
            </a:extLst>
          </p:cNvPr>
          <p:cNvSpPr/>
          <p:nvPr/>
        </p:nvSpPr>
        <p:spPr>
          <a:xfrm>
            <a:off x="238727" y="5229200"/>
            <a:ext cx="12157892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sz="2000" b="1" dirty="0"/>
              <a:t>Analytics Workflow</a:t>
            </a:r>
            <a:endParaRPr lang="en-IN" sz="2000" dirty="0"/>
          </a:p>
          <a:p>
            <a:r>
              <a:rPr lang="en-IN" b="1" dirty="0"/>
              <a:t>Raw CSV</a:t>
            </a:r>
            <a:r>
              <a:rPr lang="en-IN" dirty="0"/>
              <a:t>→ </a:t>
            </a:r>
            <a:r>
              <a:rPr lang="en-IN" b="1" dirty="0"/>
              <a:t>Python ETL</a:t>
            </a:r>
            <a:r>
              <a:rPr lang="en-IN" dirty="0"/>
              <a:t>→ </a:t>
            </a:r>
            <a:r>
              <a:rPr lang="en-IN" b="1" dirty="0"/>
              <a:t>Data Quality Validation</a:t>
            </a:r>
            <a:r>
              <a:rPr lang="en-IN" dirty="0"/>
              <a:t>→ </a:t>
            </a:r>
            <a:r>
              <a:rPr lang="en-IN" b="1" dirty="0"/>
              <a:t>Clean Dataset</a:t>
            </a:r>
            <a:r>
              <a:rPr lang="en-IN" dirty="0"/>
              <a:t>→ </a:t>
            </a:r>
            <a:r>
              <a:rPr lang="en-IN" b="1" dirty="0"/>
              <a:t>SQL Analysis</a:t>
            </a:r>
            <a:r>
              <a:rPr lang="en-IN" dirty="0"/>
              <a:t>→ </a:t>
            </a:r>
            <a:r>
              <a:rPr lang="en-IN" b="1" dirty="0"/>
              <a:t>Risk &amp; ML</a:t>
            </a:r>
            <a:r>
              <a:rPr lang="en-IN" dirty="0"/>
              <a:t>→ </a:t>
            </a:r>
            <a:r>
              <a:rPr lang="en-IN" b="1" dirty="0"/>
              <a:t>Power BI</a:t>
            </a:r>
            <a:endParaRPr lang="en-IN" dirty="0"/>
          </a:p>
          <a:p>
            <a:pPr algn="ctr"/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93522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C0744-D322-AAF9-45AE-D3447162B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083DAF0-DA49-BF7E-58C3-A21FEC140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876" y="163318"/>
            <a:ext cx="9144001" cy="627856"/>
          </a:xfrm>
        </p:spPr>
        <p:txBody>
          <a:bodyPr>
            <a:normAutofit/>
          </a:bodyPr>
          <a:lstStyle/>
          <a:p>
            <a:pPr algn="ctr"/>
            <a:r>
              <a:rPr lang="en-IN" b="1" u="sng" dirty="0"/>
              <a:t>Risk Analysis &amp; Machine Learning</a:t>
            </a:r>
            <a:endParaRPr lang="en-US" b="1" u="sng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0DCD42B-909A-660D-C305-28BEC98D1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727" y="908720"/>
            <a:ext cx="5677896" cy="453650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000" b="1" dirty="0"/>
              <a:t>Credit Risk Analysis</a:t>
            </a:r>
            <a:endParaRPr lang="en-IN" sz="2000" dirty="0"/>
          </a:p>
          <a:p>
            <a:pPr lvl="0"/>
            <a:r>
              <a:rPr lang="en-IN" sz="2000" dirty="0"/>
              <a:t>Calculated overall loan default rate </a:t>
            </a:r>
          </a:p>
          <a:p>
            <a:pPr lvl="0"/>
            <a:r>
              <a:rPr lang="en-IN" sz="2000" dirty="0" err="1"/>
              <a:t>Analyzed</a:t>
            </a:r>
            <a:r>
              <a:rPr lang="en-IN" sz="2000" dirty="0"/>
              <a:t> default rates by </a:t>
            </a:r>
            <a:r>
              <a:rPr lang="en-IN" sz="2000" b="1" dirty="0"/>
              <a:t>loan grade</a:t>
            </a:r>
            <a:r>
              <a:rPr lang="en-IN" sz="2000" dirty="0"/>
              <a:t> </a:t>
            </a:r>
          </a:p>
          <a:p>
            <a:pPr lvl="0"/>
            <a:r>
              <a:rPr lang="en-IN" sz="2000" dirty="0"/>
              <a:t>Compared risk across </a:t>
            </a:r>
            <a:r>
              <a:rPr lang="en-IN" sz="2000" b="1" dirty="0"/>
              <a:t>loan purpose and home ownership</a:t>
            </a:r>
            <a:r>
              <a:rPr lang="en-IN" sz="2000" dirty="0"/>
              <a:t> </a:t>
            </a:r>
          </a:p>
          <a:p>
            <a:pPr lvl="0"/>
            <a:r>
              <a:rPr lang="en-IN" sz="2000" dirty="0"/>
              <a:t>Examined </a:t>
            </a:r>
            <a:r>
              <a:rPr lang="en-IN" sz="2000" b="1" dirty="0"/>
              <a:t>income segments and loan burden</a:t>
            </a:r>
            <a:r>
              <a:rPr lang="en-IN" sz="2000" dirty="0"/>
              <a:t> </a:t>
            </a:r>
          </a:p>
          <a:p>
            <a:pPr lvl="0"/>
            <a:r>
              <a:rPr lang="en-IN" sz="2000" dirty="0" err="1"/>
              <a:t>Analyzed</a:t>
            </a:r>
            <a:r>
              <a:rPr lang="en-IN" sz="2000" dirty="0"/>
              <a:t> </a:t>
            </a:r>
            <a:r>
              <a:rPr lang="en-IN" sz="2000" b="1" dirty="0"/>
              <a:t>previous default history</a:t>
            </a:r>
            <a:r>
              <a:rPr lang="en-IN" sz="2000" dirty="0"/>
              <a:t> </a:t>
            </a:r>
          </a:p>
          <a:p>
            <a:pPr lvl="0"/>
            <a:r>
              <a:rPr lang="en-IN" sz="2000" dirty="0"/>
              <a:t>Investigated interest-rate and age-based patterns </a:t>
            </a:r>
          </a:p>
          <a:p>
            <a:pPr lvl="0"/>
            <a:r>
              <a:rPr lang="en-IN" sz="2000" dirty="0"/>
              <a:t>Flagged </a:t>
            </a:r>
            <a:r>
              <a:rPr lang="en-IN" sz="2000" b="1" dirty="0"/>
              <a:t>potential anomalies</a:t>
            </a:r>
            <a:r>
              <a:rPr lang="en-IN" sz="2000" dirty="0"/>
              <a:t> using extreme-value screening</a:t>
            </a:r>
          </a:p>
          <a:p>
            <a:pPr marL="0" indent="0">
              <a:buNone/>
            </a:pPr>
            <a:r>
              <a:rPr lang="en-IN" sz="2000" b="1" dirty="0"/>
              <a:t>Risk Focus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Loan burden + interest rate + previous default history + borrower characteristics</a:t>
            </a:r>
          </a:p>
          <a:p>
            <a:pPr marL="0" lvl="0" indent="0">
              <a:buNone/>
            </a:pPr>
            <a:endParaRPr lang="en-IN" sz="2000" dirty="0"/>
          </a:p>
          <a:p>
            <a:pPr lvl="0"/>
            <a:endParaRPr lang="en-IN" sz="2000" dirty="0"/>
          </a:p>
          <a:p>
            <a:pPr lvl="0"/>
            <a:endParaRPr lang="en-IN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FD2B45-A58A-9E1F-2A87-78168F003AC2}"/>
              </a:ext>
            </a:extLst>
          </p:cNvPr>
          <p:cNvSpPr txBox="1"/>
          <p:nvPr/>
        </p:nvSpPr>
        <p:spPr>
          <a:xfrm>
            <a:off x="5916623" y="764704"/>
            <a:ext cx="5677896" cy="4816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/>
              <a:t>Machine Learning</a:t>
            </a:r>
          </a:p>
          <a:p>
            <a:r>
              <a:rPr lang="en-IN" sz="1700" b="1" dirty="0"/>
              <a:t>Default Prediction</a:t>
            </a:r>
            <a:r>
              <a:rPr lang="en-IN" sz="1700" dirty="0"/>
              <a:t> </a:t>
            </a:r>
            <a:r>
              <a:rPr lang="en-IN" sz="1700" b="1" dirty="0"/>
              <a:t>Models</a:t>
            </a:r>
            <a:endParaRPr lang="en-IN" sz="17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b="1" dirty="0"/>
              <a:t>Logistic Regression</a:t>
            </a:r>
            <a:r>
              <a:rPr lang="en-IN" sz="1700" dirty="0"/>
              <a:t> — baseline classification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b="1" dirty="0"/>
              <a:t>Random Forest</a:t>
            </a:r>
            <a:r>
              <a:rPr lang="en-IN" sz="1700" dirty="0"/>
              <a:t> — non-linear classification </a:t>
            </a:r>
          </a:p>
          <a:p>
            <a:r>
              <a:rPr lang="en-IN" sz="1700" b="1" dirty="0"/>
              <a:t>Evaluation</a:t>
            </a:r>
            <a:endParaRPr lang="en-IN" sz="17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Precision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Recall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F1-score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ROC-AUC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Confusion Matrix </a:t>
            </a:r>
          </a:p>
          <a:p>
            <a:r>
              <a:rPr lang="en-IN" sz="1700" b="1" dirty="0"/>
              <a:t>Explainability</a:t>
            </a:r>
            <a:endParaRPr lang="en-IN" sz="17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Random Forest Feature Importance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SHAP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700" dirty="0"/>
          </a:p>
          <a:p>
            <a:r>
              <a:rPr lang="en-IN" sz="1700" b="1" dirty="0"/>
              <a:t>Output:</a:t>
            </a:r>
            <a:endParaRPr lang="en-IN" sz="1700" dirty="0"/>
          </a:p>
          <a:p>
            <a:r>
              <a:rPr lang="en-IN" sz="1700" dirty="0"/>
              <a:t>Predicted default probabilities and model-based risk indicators</a:t>
            </a:r>
          </a:p>
          <a:p>
            <a:pPr lvl="0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8187A3-A2A5-1A4B-179B-60DD59C8EF42}"/>
              </a:ext>
            </a:extLst>
          </p:cNvPr>
          <p:cNvSpPr/>
          <p:nvPr/>
        </p:nvSpPr>
        <p:spPr>
          <a:xfrm>
            <a:off x="521813" y="5998127"/>
            <a:ext cx="10789620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dirty="0"/>
              <a:t>EDA &amp; Risk Analysis → Feature Preparation → ML Models → Model Evaluation → Explainability → Risk Insights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6770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D7F64-377E-BAD0-E697-DBDB5FB7A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DBBA578-5137-B27F-AD33-671FE323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876" y="72504"/>
            <a:ext cx="9144001" cy="627856"/>
          </a:xfrm>
        </p:spPr>
        <p:txBody>
          <a:bodyPr>
            <a:normAutofit/>
          </a:bodyPr>
          <a:lstStyle/>
          <a:p>
            <a:pPr algn="ctr"/>
            <a:r>
              <a:rPr lang="en-IN" b="1" u="sng" dirty="0"/>
              <a:t>Power BI Dashboard </a:t>
            </a:r>
            <a:endParaRPr lang="en-US" b="1" u="sng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3FD6331-4EFE-71CD-90F4-DC7D75E83201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909836" y="6462635"/>
            <a:ext cx="1391189" cy="62785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26B205-5D7E-F032-C148-09724952E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88" y="700359"/>
            <a:ext cx="11233248" cy="57191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7F73A3-3400-74EC-89BA-2B98B53BAEBE}"/>
              </a:ext>
            </a:extLst>
          </p:cNvPr>
          <p:cNvSpPr txBox="1"/>
          <p:nvPr/>
        </p:nvSpPr>
        <p:spPr>
          <a:xfrm>
            <a:off x="4510236" y="6397090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 Executive Risk Overview</a:t>
            </a:r>
          </a:p>
        </p:txBody>
      </p:sp>
    </p:spTree>
    <p:extLst>
      <p:ext uri="{BB962C8B-B14F-4D97-AF65-F5344CB8AC3E}">
        <p14:creationId xmlns:p14="http://schemas.microsoft.com/office/powerpoint/2010/main" val="3903241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7A670-E2B5-D203-BB8A-E54960E93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51F37B1-9D16-3DB3-D971-BDF7EB149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876" y="72504"/>
            <a:ext cx="9144001" cy="627856"/>
          </a:xfrm>
        </p:spPr>
        <p:txBody>
          <a:bodyPr>
            <a:normAutofit/>
          </a:bodyPr>
          <a:lstStyle/>
          <a:p>
            <a:pPr algn="ctr"/>
            <a:r>
              <a:rPr lang="en-IN" b="1" u="sng" dirty="0"/>
              <a:t>Power BI Dashboard </a:t>
            </a:r>
            <a:endParaRPr lang="en-US" b="1" u="sng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327949A-72A9-400F-1FDE-5F7B4F6FCAB7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909836" y="6462635"/>
            <a:ext cx="1391189" cy="62785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626E0D-1F2F-F8F5-F9D1-06F019D807CD}"/>
              </a:ext>
            </a:extLst>
          </p:cNvPr>
          <p:cNvSpPr txBox="1"/>
          <p:nvPr/>
        </p:nvSpPr>
        <p:spPr>
          <a:xfrm>
            <a:off x="4510236" y="6397090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 Credit Risk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CACA19-833E-55B3-4F0D-C2BA29086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72" y="631706"/>
            <a:ext cx="11449272" cy="580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435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660C8-C974-8731-104C-93E78D988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68835FD-CF7B-7CEA-B552-43D42E36B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876" y="72504"/>
            <a:ext cx="9144001" cy="627856"/>
          </a:xfrm>
        </p:spPr>
        <p:txBody>
          <a:bodyPr>
            <a:normAutofit/>
          </a:bodyPr>
          <a:lstStyle/>
          <a:p>
            <a:pPr algn="ctr"/>
            <a:r>
              <a:rPr lang="en-IN" b="1" u="sng" dirty="0"/>
              <a:t>Power BI Dashboard </a:t>
            </a:r>
            <a:endParaRPr lang="en-US" b="1" u="sng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2F78393-3E7A-1746-502D-ACF920278440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909836" y="6462635"/>
            <a:ext cx="1391189" cy="62785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5C7A2C-DD68-0C09-80C0-364CEEA9155E}"/>
              </a:ext>
            </a:extLst>
          </p:cNvPr>
          <p:cNvSpPr txBox="1"/>
          <p:nvPr/>
        </p:nvSpPr>
        <p:spPr>
          <a:xfrm>
            <a:off x="4510236" y="6397090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 Data Quality and Control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B1A2E6-8F5D-4B8E-A974-DB8ED49DD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29" y="637753"/>
            <a:ext cx="11470366" cy="582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527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80B98-52CD-C4B1-1BDA-62C16B0B1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0E9821C-3951-C338-09DC-FC98DE143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876" y="163318"/>
            <a:ext cx="9144001" cy="627856"/>
          </a:xfrm>
        </p:spPr>
        <p:txBody>
          <a:bodyPr>
            <a:normAutofit/>
          </a:bodyPr>
          <a:lstStyle/>
          <a:p>
            <a:pPr algn="ctr"/>
            <a:r>
              <a:rPr lang="en-IN" b="1" u="sng" dirty="0"/>
              <a:t>Key Insights &amp; Project Outcomes</a:t>
            </a:r>
            <a:endParaRPr lang="en-US" b="1" u="sng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74D238A-2DB0-370C-1F37-CDB72599B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56" y="1080433"/>
            <a:ext cx="5279621" cy="338437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000" b="1" dirty="0"/>
              <a:t>Key Insights</a:t>
            </a:r>
            <a:endParaRPr lang="en-IN" sz="2000" dirty="0"/>
          </a:p>
          <a:p>
            <a:pPr lvl="0"/>
            <a:r>
              <a:rPr lang="en-IN" sz="2000" dirty="0"/>
              <a:t>Default rates vary across </a:t>
            </a:r>
            <a:r>
              <a:rPr lang="en-IN" sz="2000" b="1" dirty="0"/>
              <a:t>loan grades and borrower segments</a:t>
            </a:r>
            <a:r>
              <a:rPr lang="en-IN" sz="2000" dirty="0"/>
              <a:t>. </a:t>
            </a:r>
          </a:p>
          <a:p>
            <a:pPr lvl="0"/>
            <a:r>
              <a:rPr lang="en-IN" sz="2000" b="1" dirty="0"/>
              <a:t>Loan burden</a:t>
            </a:r>
            <a:r>
              <a:rPr lang="en-IN" sz="2000" dirty="0"/>
              <a:t> provides an important indicator for risk segmentation. </a:t>
            </a:r>
          </a:p>
          <a:p>
            <a:pPr lvl="0"/>
            <a:r>
              <a:rPr lang="en-IN" sz="2000" b="1" dirty="0"/>
              <a:t>Previous default history</a:t>
            </a:r>
            <a:r>
              <a:rPr lang="en-IN" sz="2000" dirty="0"/>
              <a:t> is a relevant risk signal in the analysis. </a:t>
            </a:r>
          </a:p>
          <a:p>
            <a:pPr lvl="0"/>
            <a:r>
              <a:rPr lang="en-IN" sz="2000" dirty="0"/>
              <a:t>Extreme-value screening identified </a:t>
            </a:r>
            <a:r>
              <a:rPr lang="en-IN" sz="2000" b="1" dirty="0"/>
              <a:t>potential anomalies</a:t>
            </a:r>
            <a:r>
              <a:rPr lang="en-IN" sz="2000" dirty="0"/>
              <a:t> for further investigation. </a:t>
            </a:r>
          </a:p>
          <a:p>
            <a:pPr lvl="0"/>
            <a:r>
              <a:rPr lang="en-IN" sz="2000" dirty="0"/>
              <a:t>Data-quality validation provides an additional layer of control before reporting. </a:t>
            </a:r>
          </a:p>
          <a:p>
            <a:pPr marL="0" lvl="0" indent="0">
              <a:buNone/>
            </a:pPr>
            <a:endParaRPr lang="en-IN" sz="2000" dirty="0"/>
          </a:p>
          <a:p>
            <a:pPr lvl="0"/>
            <a:endParaRPr lang="en-IN" sz="2000" dirty="0"/>
          </a:p>
          <a:p>
            <a:pPr lvl="0"/>
            <a:endParaRPr lang="en-IN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4E1B18-0F23-72C7-CE78-3477F2351FB0}"/>
              </a:ext>
            </a:extLst>
          </p:cNvPr>
          <p:cNvSpPr txBox="1"/>
          <p:nvPr/>
        </p:nvSpPr>
        <p:spPr>
          <a:xfrm>
            <a:off x="5916623" y="1080433"/>
            <a:ext cx="5677896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Project Outcomes</a:t>
            </a:r>
          </a:p>
          <a:p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End-to-end </a:t>
            </a:r>
            <a:r>
              <a:rPr lang="en-IN" sz="1600" b="1" dirty="0"/>
              <a:t>credit risk analytics workflow</a:t>
            </a:r>
            <a:r>
              <a:rPr lang="en-IN" sz="16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Python-based data cleaning and EDA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SQL-based analytical queries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Data-quality assessment framework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Logistic Regression and Random Forest models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Model evaluation and explainability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3-page interactive Power BI dashboard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Reproducible project structure with GitHub documentation</a:t>
            </a:r>
          </a:p>
          <a:p>
            <a:pPr lvl="0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96BF52-BA28-4BC6-F792-E5ED51C59F65}"/>
              </a:ext>
            </a:extLst>
          </p:cNvPr>
          <p:cNvSpPr/>
          <p:nvPr/>
        </p:nvSpPr>
        <p:spPr>
          <a:xfrm>
            <a:off x="317029" y="5013176"/>
            <a:ext cx="11554766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IN" b="1" dirty="0"/>
              <a:t>Conclusion</a:t>
            </a:r>
          </a:p>
          <a:p>
            <a:endParaRPr lang="en-IN" b="1" dirty="0"/>
          </a:p>
          <a:p>
            <a:r>
              <a:rPr lang="en-IN" b="1" dirty="0"/>
              <a:t>The project transforms raw credit data into validated analytical outputs and interactive risk insights by integrating </a:t>
            </a:r>
          </a:p>
          <a:p>
            <a:r>
              <a:rPr lang="en-IN" b="1" dirty="0"/>
              <a:t>Python, SQL, Machine Learning, Power BI and data-quality controls.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5387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35</TotalTime>
  <Words>516</Words>
  <Application>Microsoft Office PowerPoint</Application>
  <PresentationFormat>Custom</PresentationFormat>
  <Paragraphs>106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Corbel</vt:lpstr>
      <vt:lpstr>Digital Blue Tunnel 16x9</vt:lpstr>
      <vt:lpstr>Credit Risk &amp; Data Quality Analytics Platform</vt:lpstr>
      <vt:lpstr>Business Problem, Objectives &amp; Dataset</vt:lpstr>
      <vt:lpstr>Data Preparation, Quality &amp; Analytics Workflow</vt:lpstr>
      <vt:lpstr>Risk Analysis &amp; Machine Learning</vt:lpstr>
      <vt:lpstr>Power BI Dashboard </vt:lpstr>
      <vt:lpstr>Power BI Dashboard </vt:lpstr>
      <vt:lpstr>Power BI Dashboard </vt:lpstr>
      <vt:lpstr>Key Insights &amp; Project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Leisha Nampally</dc:creator>
  <cp:lastModifiedBy>Leisha Nampally</cp:lastModifiedBy>
  <cp:revision>1</cp:revision>
  <dcterms:created xsi:type="dcterms:W3CDTF">2026-09-17T15:05:00Z</dcterms:created>
  <dcterms:modified xsi:type="dcterms:W3CDTF">2026-09-17T15:40:17Z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